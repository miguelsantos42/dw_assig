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1" r:id="rId9"/>
    <p:sldId id="262" r:id="rId10"/>
    <p:sldId id="263" r:id="rId11"/>
    <p:sldId id="264" r:id="rId12"/>
    <p:sldId id="267" r:id="rId13"/>
    <p:sldId id="268" r:id="rId14"/>
    <p:sldId id="265" r:id="rId15"/>
    <p:sldId id="26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639C"/>
    <a:srgbClr val="286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–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17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5613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2CB66-F2D3-905F-5349-A7B524557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4696F-13E5-CCF2-CBE9-16FE77E25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4EE83-CFA9-8439-774E-A7D3001A3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69F12-B2B0-D6C5-627A-8FE139EF1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66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D3CBF-7B9B-F76C-D138-1E47B4BE0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FA7AD-919E-08A1-5B0A-1626DF182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3F6A2-019E-56F8-58E8-C005B8A91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AB4AD-2C84-6964-31C9-DEB0EBC8AC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53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79F3D-73AD-0CB4-1C50-C6B5AF618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0AE8ED-F161-1C22-710F-967EB35361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60210-9540-5E8F-EC9E-4E28DECC4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4CA95-51E8-5B46-B038-2EF2B8C59F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576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D1F8B-C5D6-E6A1-7A98-273F0A801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98E1E-BBC9-0DCC-8DF0-ED73CD915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5C5C7-0269-D308-2965-EA23D3B4A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98BE0-02CA-BFFC-2219-9661EB6DB8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279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 flipH="1">
            <a:off x="398562" y="0"/>
            <a:ext cx="45719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45539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PROJECT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00006" y="848023"/>
            <a:ext cx="7343987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AWARD OSCAR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1927 -2023</a:t>
            </a:r>
          </a:p>
        </p:txBody>
      </p:sp>
      <p:sp>
        <p:nvSpPr>
          <p:cNvPr id="13" name="Text 11"/>
          <p:cNvSpPr/>
          <p:nvPr/>
        </p:nvSpPr>
        <p:spPr>
          <a:xfrm>
            <a:off x="1518800" y="2144369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Ceremonies  ·  11,874 Nominations  ·  3,435 Winners  ·  1927 – 2023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845749" y="27154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4186" y="27154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63894" y="3049227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4185" y="30629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3, Star Schema, Power BI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817552" y="3382579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4185" y="340047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G06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02879" y="3675187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4185" y="37071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April 2026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FB5136F9-1934-D701-DC60-372DBADB967F}"/>
              </a:ext>
            </a:extLst>
          </p:cNvPr>
          <p:cNvSpPr/>
          <p:nvPr/>
        </p:nvSpPr>
        <p:spPr>
          <a:xfrm>
            <a:off x="4582018" y="3936894"/>
            <a:ext cx="5244247" cy="916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200" dirty="0">
                <a:solidFill>
                  <a:schemeClr val="bg1"/>
                </a:solidFill>
              </a:rPr>
              <a:t>David Pereira Dias    (UP201905099)</a:t>
            </a:r>
          </a:p>
          <a:p>
            <a:r>
              <a:rPr lang="en-GB" sz="1200" dirty="0">
                <a:solidFill>
                  <a:schemeClr val="bg1"/>
                </a:solidFill>
              </a:rPr>
              <a:t>Manju Srinivasan     (UP202510628)</a:t>
            </a:r>
          </a:p>
          <a:p>
            <a:r>
              <a:rPr lang="en-GB" sz="1200" dirty="0">
                <a:solidFill>
                  <a:schemeClr val="bg1"/>
                </a:solidFill>
              </a:rPr>
              <a:t>Miguel Filipe Santos (UP202008450) </a:t>
            </a:r>
            <a:endParaRPr lang="en-US" sz="1200" b="1" dirty="0">
              <a:solidFill>
                <a:schemeClr val="bg1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5AA3374F-B1B2-E293-0C68-83C1AE8F35F9}"/>
              </a:ext>
            </a:extLst>
          </p:cNvPr>
          <p:cNvSpPr/>
          <p:nvPr/>
        </p:nvSpPr>
        <p:spPr>
          <a:xfrm>
            <a:off x="2963894" y="4102318"/>
            <a:ext cx="14150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F5E"/>
          </a:solidFill>
          <a:ln w="12700">
            <a:solidFill>
              <a:srgbClr val="1D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walkthrough of the Data Warehouse lifecycle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D3F5E"/>
          </a:solidFill>
          <a:ln w="12700">
            <a:solidFill>
              <a:srgbClr val="1D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475488" cy="80467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234440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128016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Description &amp; Goals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" y="164592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key dataset facts, and research objectives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16712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167128"/>
            <a:ext cx="475488" cy="80467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167128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" y="2212848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6968" y="2578608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Bus Matrix, dimension &amp; fact dictionary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309981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099816"/>
            <a:ext cx="475488" cy="80467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099816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" y="3145536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Data Model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6968" y="3511296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ER model, Star Schema design, key design decisions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403250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4032504"/>
            <a:ext cx="475488" cy="80467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4032504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6968" y="4078224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— Extract, Transform, Load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86968" y="4443984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file, extraction pipeline, transformations, loading order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12344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1234440"/>
            <a:ext cx="475488" cy="80467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1234440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21808" y="128016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&amp; Data Analysis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21808" y="164592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analytical SQL queries covering nominations, win rates &amp; trends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216712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2167128"/>
            <a:ext cx="475488" cy="80467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2167128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21808" y="2212848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21808" y="2578608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charts, KPI cards, interactive filters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309981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54880" y="3099816"/>
            <a:ext cx="475488" cy="80467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0" y="3099816"/>
            <a:ext cx="4754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21808" y="3145536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Reflection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21808" y="3511296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summary, DW vs OLTP advantages, limitations &amp; future work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F5E"/>
          </a:solidFill>
          <a:ln w="12700">
            <a:solidFill>
              <a:srgbClr val="1D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Subject Description &amp; Goals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Warehousing lifecycle for Academy Awards 1927–2023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1572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207008"/>
            <a:ext cx="1572768" cy="594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4904" y="127101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11,876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4904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Nominations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20824" y="1207008"/>
            <a:ext cx="1572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20824" y="1207008"/>
            <a:ext cx="1572768" cy="594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75688" y="127101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3,435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75688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Winners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21608" y="1207008"/>
            <a:ext cx="1572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21608" y="1207008"/>
            <a:ext cx="1572768" cy="594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76472" y="127101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76472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Win Rate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22392" y="1207008"/>
            <a:ext cx="1572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22392" y="1207008"/>
            <a:ext cx="1572768" cy="594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77256" y="127101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77256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Ceremonies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123176" y="1207008"/>
            <a:ext cx="157276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23176" y="1207008"/>
            <a:ext cx="1572768" cy="594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78040" y="127101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5066+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78040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Films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240280"/>
            <a:ext cx="41605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9768" y="2313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2651760"/>
            <a:ext cx="3794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designs, builds, and analyses a Data Warehouse centred on the complete historical record of the Academy Awards — the most prestigious prize in the film industry.</a:t>
            </a:r>
            <a:endParaRPr lang="en-US" sz="950" dirty="0"/>
          </a:p>
          <a:p>
            <a:pPr marL="0" indent="0">
              <a:buNone/>
            </a:pPr>
            <a:r>
              <a:rPr lang="en-US" sz="4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data covers every Oscar nomination from Ceremony 1 (1927/28) through Ceremony 96 (2023), encompassing 11,876 nominations, 3,435 winners, and diverse categories spanning acting, directing, writing, production, music, documentary, and scientific/technical awards.</a:t>
            </a:r>
            <a:endParaRPr lang="en-US" sz="950" dirty="0"/>
          </a:p>
          <a:p>
            <a:pPr marL="0" indent="0">
              <a:buNone/>
            </a:pPr>
            <a:r>
              <a:rPr lang="en-US" sz="4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runs natively in SQLite: raw CSV , normalised operational schema , Star Schema , analytical SQL, Power BI &amp; Python visualisation.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240280"/>
            <a:ext cx="41605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73168" y="2313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2651760"/>
            <a:ext cx="3794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robust Star Schema for multi-dimensional nomination and win analysis</a:t>
            </a:r>
            <a:endParaRPr lang="en-US" sz="90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complete ETL: staging , operational </a:t>
            </a:r>
            <a:r>
              <a:rPr lang="en-US" sz="900" dirty="0" err="1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model,Star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Schema</a:t>
            </a:r>
            <a:endParaRPr lang="en-US" sz="90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additive and semi-additive fact tables</a:t>
            </a:r>
            <a:endParaRPr lang="en-US" sz="90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dimensions with derived attributes (decade, era, class group)</a:t>
            </a:r>
            <a:endParaRPr lang="en-US" sz="90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15 analytical SQL queries for business intelligence</a:t>
            </a:r>
            <a:endParaRPr lang="en-US" sz="90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dashboard</a:t>
            </a:r>
            <a:endParaRPr lang="en-US" sz="90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reflect on DW vs OLTP design trade-offs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F5E"/>
          </a:solidFill>
          <a:ln w="12700">
            <a:solidFill>
              <a:srgbClr val="1D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Planning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Bus Matrix · Dimensions Dictionary · Facts Dictionary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024128"/>
            <a:ext cx="8503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069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BUS MATRIX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3017520"/>
            <a:ext cx="4160520" cy="1929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29768" y="30723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dim_ceremony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rows · ceremony_number, year, decade, era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" y="3739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dim_category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category · roll-up by CanonicalCategory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2920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dim_class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rows · class_name, class_group (Creative/Technical)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" y="4361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dim_film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film · film_id (IMDb tt…), title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2920" y="4672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dim_nominee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person/org · nominee_id (IMDb nm…)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3017520"/>
            <a:ext cx="4160520" cy="191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73168" y="30723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46320" y="34290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fact_nomination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· nom_count (1), win_count (0/1), multifilm flag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46320" y="39410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fact_ceremony_snapshot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· total_nominations, total_winners, total_films_nominated, avg_nominees_per_film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846320" y="445312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bridge_participation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bridge · nom_id × nominee_key</a:t>
            </a:r>
            <a:endParaRPr lang="en-US" sz="900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96AFBFCE-3845-5315-42CE-0DF0E7033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078940"/>
              </p:ext>
            </p:extLst>
          </p:nvPr>
        </p:nvGraphicFramePr>
        <p:xfrm>
          <a:off x="536617" y="1473671"/>
          <a:ext cx="8070766" cy="1246705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1882987">
                  <a:extLst>
                    <a:ext uri="{9D8B030D-6E8A-4147-A177-3AD203B41FA5}">
                      <a16:colId xmlns:a16="http://schemas.microsoft.com/office/drawing/2014/main" val="253978284"/>
                    </a:ext>
                  </a:extLst>
                </a:gridCol>
                <a:gridCol w="923241">
                  <a:extLst>
                    <a:ext uri="{9D8B030D-6E8A-4147-A177-3AD203B41FA5}">
                      <a16:colId xmlns:a16="http://schemas.microsoft.com/office/drawing/2014/main" val="570903163"/>
                    </a:ext>
                  </a:extLst>
                </a:gridCol>
                <a:gridCol w="1340394">
                  <a:extLst>
                    <a:ext uri="{9D8B030D-6E8A-4147-A177-3AD203B41FA5}">
                      <a16:colId xmlns:a16="http://schemas.microsoft.com/office/drawing/2014/main" val="1900753361"/>
                    </a:ext>
                  </a:extLst>
                </a:gridCol>
                <a:gridCol w="1248089">
                  <a:extLst>
                    <a:ext uri="{9D8B030D-6E8A-4147-A177-3AD203B41FA5}">
                      <a16:colId xmlns:a16="http://schemas.microsoft.com/office/drawing/2014/main" val="3083003878"/>
                    </a:ext>
                  </a:extLst>
                </a:gridCol>
                <a:gridCol w="971963">
                  <a:extLst>
                    <a:ext uri="{9D8B030D-6E8A-4147-A177-3AD203B41FA5}">
                      <a16:colId xmlns:a16="http://schemas.microsoft.com/office/drawing/2014/main" val="2574459427"/>
                    </a:ext>
                  </a:extLst>
                </a:gridCol>
                <a:gridCol w="852046">
                  <a:extLst>
                    <a:ext uri="{9D8B030D-6E8A-4147-A177-3AD203B41FA5}">
                      <a16:colId xmlns:a16="http://schemas.microsoft.com/office/drawing/2014/main" val="217781863"/>
                    </a:ext>
                  </a:extLst>
                </a:gridCol>
                <a:gridCol w="852046">
                  <a:extLst>
                    <a:ext uri="{9D8B030D-6E8A-4147-A177-3AD203B41FA5}">
                      <a16:colId xmlns:a16="http://schemas.microsoft.com/office/drawing/2014/main" val="3838786537"/>
                    </a:ext>
                  </a:extLst>
                </a:gridCol>
              </a:tblGrid>
              <a:tr h="40938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Fact Table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Grain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 err="1">
                          <a:solidFill>
                            <a:schemeClr val="tx1"/>
                          </a:solidFill>
                        </a:rPr>
                        <a:t>dim_ceremony</a:t>
                      </a: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     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 err="1">
                          <a:solidFill>
                            <a:schemeClr val="tx1"/>
                          </a:solidFill>
                        </a:rPr>
                        <a:t>dim_category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>
                          <a:solidFill>
                            <a:schemeClr val="tx1"/>
                          </a:solidFill>
                        </a:rPr>
                        <a:t>dim_class</a:t>
                      </a:r>
                      <a:endParaRPr lang="en-GB" sz="1000" b="1" kern="120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>
                          <a:solidFill>
                            <a:schemeClr val="tx1"/>
                          </a:solidFill>
                        </a:rPr>
                        <a:t>dim_film</a:t>
                      </a:r>
                      <a:endParaRPr lang="en-GB" sz="1000" b="1" kern="120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>
                          <a:solidFill>
                            <a:schemeClr val="tx1"/>
                          </a:solidFill>
                        </a:rPr>
                        <a:t>dim_</a:t>
                      </a:r>
                    </a:p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>
                          <a:solidFill>
                            <a:schemeClr val="tx1"/>
                          </a:solidFill>
                        </a:rPr>
                        <a:t>nominee</a:t>
                      </a:r>
                      <a:endParaRPr lang="en-GB" sz="1000" b="1" kern="120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7489787"/>
                  </a:ext>
                </a:extLst>
              </a:tr>
              <a:tr h="402436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FACT_NOMINATION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Transactional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813509"/>
                  </a:ext>
                </a:extLst>
              </a:tr>
              <a:tr h="402436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FACT_CEREMONY_SNAPSHOT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Periodic Snapshot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b="1" kern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GB" sz="1000" b="1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495045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F5E"/>
          </a:solidFill>
          <a:ln w="12700">
            <a:solidFill>
              <a:srgbClr val="1D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Dimensional Data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ER Model , Star Schema, Key Design Decisions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2834640" cy="39364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ER 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6276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Star Schema, an operational relational model normalises the raw staging data.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1954784"/>
            <a:ext cx="2514600" cy="32004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0220" y="1976797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339594"/>
            <a:ext cx="2514600" cy="32004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" y="232621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4275" y="2731621"/>
            <a:ext cx="2514600" cy="32004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" y="272004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141133"/>
            <a:ext cx="2514600" cy="32004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14477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NOMINEE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0220" y="3527552"/>
            <a:ext cx="2514600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3523911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0220" y="3914987"/>
            <a:ext cx="2514600" cy="320040"/>
          </a:xfrm>
          <a:prstGeom prst="rect">
            <a:avLst/>
          </a:prstGeom>
          <a:solidFill>
            <a:srgbClr val="6A8FAD"/>
          </a:solidFill>
          <a:ln w="12700">
            <a:solidFill>
              <a:srgbClr val="6A8FAD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0088" y="39502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257887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NOMINATION  ←  CEREMONY (1:many)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444398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NOMINATION  ←  FILM (1:many)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4623901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NOMINATION  ←  CATEGORY (1:many)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0060" y="4803691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PARTICIPATION bridges NOMINATION, NOMINEE (</a:t>
            </a:r>
            <a:r>
              <a:rPr lang="en-US" sz="800" dirty="0" err="1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many:many</a:t>
            </a: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30448" y="1207008"/>
            <a:ext cx="2788920" cy="39364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47288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20440" y="1627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Schema dimensional model with two fact tables and five dimensions: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20440" y="1907072"/>
            <a:ext cx="2468880" cy="30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520440" y="2202370"/>
            <a:ext cx="2468880" cy="464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fact_nomination (transactional)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fact_ceremony_snapshot (periodic)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0440" y="2498183"/>
            <a:ext cx="2468880" cy="30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520440" y="2781805"/>
            <a:ext cx="2468880" cy="464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dim_ceremony · dim_category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dim_class · dim_film · dim_nominee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20440" y="3104692"/>
            <a:ext cx="2468880" cy="30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520440" y="3446225"/>
            <a:ext cx="2468880" cy="464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bridge_participation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many-to-many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20440" y="3729846"/>
            <a:ext cx="2468880" cy="30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520440" y="4065331"/>
            <a:ext cx="2468880" cy="464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nomination_count, win_count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total_nominations, total_winners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20440" y="4386243"/>
            <a:ext cx="2468880" cy="30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SEMI-ADDITIVE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520440" y="4696042"/>
            <a:ext cx="2468880" cy="464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total_films_nominated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avg_nominees_per_film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09360" y="1207007"/>
            <a:ext cx="2514600" cy="3936491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19088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08831" y="1537203"/>
            <a:ext cx="22457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Table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508831" y="1774947"/>
            <a:ext cx="22457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multi-nominee nominations without row duplication in fact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508831" y="2084832"/>
            <a:ext cx="22457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Fact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508831" y="2375070"/>
            <a:ext cx="22457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Pre-aggregates per ceremony/category — faster Power BI queries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508831" y="2697480"/>
            <a:ext cx="22457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508831" y="2989675"/>
            <a:ext cx="22457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dim_ceremony &amp; dim_category shared across both fact tables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508831" y="3366839"/>
            <a:ext cx="22457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Attrs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508831" y="3625241"/>
            <a:ext cx="22457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decade, century, era computed at ETL — no repeated CASE expressions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08831" y="3946459"/>
            <a:ext cx="22457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 Dim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508831" y="4196927"/>
            <a:ext cx="22457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nom_id kept as PK; no extra dimension table needed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08831" y="4462685"/>
            <a:ext cx="22457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SciTech Class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85128" y="4724404"/>
            <a:ext cx="22457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Non-competitive awards isolated to prevent win-rate distortion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D3BD0-43BF-DA06-6AFB-72EAE94CE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6B1DC4-187B-DFB1-EB2A-CE292DB4534E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F5E"/>
          </a:solidFill>
          <a:ln w="12700">
            <a:solidFill>
              <a:srgbClr val="1D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96A5CA-1F6C-936F-791A-B24497D51512}"/>
              </a:ext>
            </a:extLst>
          </p:cNvPr>
          <p:cNvSpPr/>
          <p:nvPr/>
        </p:nvSpPr>
        <p:spPr>
          <a:xfrm>
            <a:off x="41148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Operational Model  Entity Relationship Diagram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55C79E-F467-CF60-C579-23C2075EA25A}"/>
              </a:ext>
            </a:extLst>
          </p:cNvPr>
          <p:cNvSpPr/>
          <p:nvPr/>
        </p:nvSpPr>
        <p:spPr>
          <a:xfrm>
            <a:off x="411480" y="594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ER Model , Star Schema, Key Design Decisions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C409B1-0BD0-40FE-1386-53B96407C542}"/>
              </a:ext>
            </a:extLst>
          </p:cNvPr>
          <p:cNvSpPr/>
          <p:nvPr/>
        </p:nvSpPr>
        <p:spPr>
          <a:xfrm>
            <a:off x="8528843" y="4861882"/>
            <a:ext cx="523184" cy="261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FAFCD214-2AC2-A486-B38E-8C992A07C660}"/>
              </a:ext>
            </a:extLst>
          </p:cNvPr>
          <p:cNvSpPr/>
          <p:nvPr/>
        </p:nvSpPr>
        <p:spPr>
          <a:xfrm>
            <a:off x="4251959" y="976614"/>
            <a:ext cx="4518999" cy="264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Tables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34F9583-C554-E20F-133A-BDAAE976ED48}"/>
              </a:ext>
            </a:extLst>
          </p:cNvPr>
          <p:cNvSpPr/>
          <p:nvPr/>
        </p:nvSpPr>
        <p:spPr>
          <a:xfrm>
            <a:off x="4251960" y="1305798"/>
            <a:ext cx="4572000" cy="20117"/>
          </a:xfrm>
          <a:prstGeom prst="rect">
            <a:avLst/>
          </a:prstGeom>
          <a:solidFill>
            <a:srgbClr val="C5993A"/>
          </a:solidFill>
          <a:ln w="12700">
            <a:solidFill>
              <a:srgbClr val="C59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C328AB9-E2E1-C339-7B2D-D59C8127407C}"/>
              </a:ext>
            </a:extLst>
          </p:cNvPr>
          <p:cNvSpPr/>
          <p:nvPr/>
        </p:nvSpPr>
        <p:spPr>
          <a:xfrm>
            <a:off x="4251960" y="1397238"/>
            <a:ext cx="4572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71997DF5-3FCF-9800-94D5-E6C01ADD1A09}"/>
              </a:ext>
            </a:extLst>
          </p:cNvPr>
          <p:cNvSpPr/>
          <p:nvPr/>
        </p:nvSpPr>
        <p:spPr>
          <a:xfrm>
            <a:off x="4251960" y="1397238"/>
            <a:ext cx="50292" cy="530352"/>
          </a:xfrm>
          <a:prstGeom prst="rect">
            <a:avLst/>
          </a:prstGeom>
          <a:solidFill>
            <a:srgbClr val="C5993A"/>
          </a:solidFill>
          <a:ln w="12700">
            <a:solidFill>
              <a:srgbClr val="C59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9441BB02-CD8B-9FC8-0A17-B8BDC497109D}"/>
              </a:ext>
            </a:extLst>
          </p:cNvPr>
          <p:cNvSpPr/>
          <p:nvPr/>
        </p:nvSpPr>
        <p:spPr>
          <a:xfrm>
            <a:off x="4352544" y="145210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</a:t>
            </a:r>
            <a:endParaRPr lang="en-US" sz="1000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FF91E28D-20AF-1487-C62F-646926C3EE83}"/>
              </a:ext>
            </a:extLst>
          </p:cNvPr>
          <p:cNvSpPr/>
          <p:nvPr/>
        </p:nvSpPr>
        <p:spPr>
          <a:xfrm>
            <a:off x="4352544" y="168984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rows · PK: ceremony_id · year, ceremony_number</a:t>
            </a:r>
            <a:endParaRPr lang="en-US" sz="950" dirty="0"/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FA3CB07E-5D49-1B57-64AB-43343592B624}"/>
              </a:ext>
            </a:extLst>
          </p:cNvPr>
          <p:cNvSpPr/>
          <p:nvPr/>
        </p:nvSpPr>
        <p:spPr>
          <a:xfrm>
            <a:off x="4251960" y="2019030"/>
            <a:ext cx="4572000" cy="530352"/>
          </a:xfrm>
          <a:prstGeom prst="rect">
            <a:avLst/>
          </a:prstGeom>
          <a:solidFill>
            <a:srgbClr val="E8EDF5"/>
          </a:solidFill>
          <a:ln w="6350">
            <a:solidFill>
              <a:srgbClr val="D8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32FCE8D6-887B-E0C1-E1B2-D15F2D870E2C}"/>
              </a:ext>
            </a:extLst>
          </p:cNvPr>
          <p:cNvSpPr/>
          <p:nvPr/>
        </p:nvSpPr>
        <p:spPr>
          <a:xfrm>
            <a:off x="4251960" y="2019030"/>
            <a:ext cx="50292" cy="530352"/>
          </a:xfrm>
          <a:prstGeom prst="rect">
            <a:avLst/>
          </a:prstGeom>
          <a:solidFill>
            <a:srgbClr val="C5993A"/>
          </a:solidFill>
          <a:ln w="12700">
            <a:solidFill>
              <a:srgbClr val="C59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C94BEAF4-A079-AC80-EC1C-59BF0EFC013A}"/>
              </a:ext>
            </a:extLst>
          </p:cNvPr>
          <p:cNvSpPr/>
          <p:nvPr/>
        </p:nvSpPr>
        <p:spPr>
          <a:xfrm>
            <a:off x="4352544" y="207389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</a:t>
            </a:r>
            <a:endParaRPr lang="en-US" sz="1000" dirty="0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AF7A21FB-3CA0-864D-EFAF-7325CAF4187D}"/>
              </a:ext>
            </a:extLst>
          </p:cNvPr>
          <p:cNvSpPr/>
          <p:nvPr/>
        </p:nvSpPr>
        <p:spPr>
          <a:xfrm>
            <a:off x="4352544" y="231163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~5,100 rows · film_id (IMDb tt… / ef…) · title</a:t>
            </a:r>
            <a:endParaRPr lang="en-US" sz="950" dirty="0"/>
          </a:p>
        </p:txBody>
      </p:sp>
      <p:sp>
        <p:nvSpPr>
          <p:cNvPr id="58" name="Shape 13">
            <a:extLst>
              <a:ext uri="{FF2B5EF4-FFF2-40B4-BE49-F238E27FC236}">
                <a16:creationId xmlns:a16="http://schemas.microsoft.com/office/drawing/2014/main" id="{98C5CC85-94E3-1DCF-EE25-85F6510B87E1}"/>
              </a:ext>
            </a:extLst>
          </p:cNvPr>
          <p:cNvSpPr/>
          <p:nvPr/>
        </p:nvSpPr>
        <p:spPr>
          <a:xfrm>
            <a:off x="4251960" y="2640822"/>
            <a:ext cx="4572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14">
            <a:extLst>
              <a:ext uri="{FF2B5EF4-FFF2-40B4-BE49-F238E27FC236}">
                <a16:creationId xmlns:a16="http://schemas.microsoft.com/office/drawing/2014/main" id="{CA8116CB-E8AB-9D58-B076-13DFE8D6E84E}"/>
              </a:ext>
            </a:extLst>
          </p:cNvPr>
          <p:cNvSpPr/>
          <p:nvPr/>
        </p:nvSpPr>
        <p:spPr>
          <a:xfrm>
            <a:off x="4251960" y="2640822"/>
            <a:ext cx="50292" cy="530352"/>
          </a:xfrm>
          <a:prstGeom prst="rect">
            <a:avLst/>
          </a:prstGeom>
          <a:solidFill>
            <a:srgbClr val="C5993A"/>
          </a:solidFill>
          <a:ln w="12700">
            <a:solidFill>
              <a:srgbClr val="C59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15">
            <a:extLst>
              <a:ext uri="{FF2B5EF4-FFF2-40B4-BE49-F238E27FC236}">
                <a16:creationId xmlns:a16="http://schemas.microsoft.com/office/drawing/2014/main" id="{026C0CB4-5225-D35F-E64B-5828A1C9837E}"/>
              </a:ext>
            </a:extLst>
          </p:cNvPr>
          <p:cNvSpPr/>
          <p:nvPr/>
        </p:nvSpPr>
        <p:spPr>
          <a:xfrm>
            <a:off x="4352544" y="269568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C52C5815-E72F-187E-38BD-04EC13916B33}"/>
              </a:ext>
            </a:extLst>
          </p:cNvPr>
          <p:cNvSpPr/>
          <p:nvPr/>
        </p:nvSpPr>
        <p:spPr>
          <a:xfrm>
            <a:off x="4352544" y="293343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canonical_category + category_name · UNIQUE</a:t>
            </a:r>
            <a:endParaRPr lang="en-US" sz="950" dirty="0"/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00C9DFD4-374E-CDCF-1AAB-5DA9D2B38A00}"/>
              </a:ext>
            </a:extLst>
          </p:cNvPr>
          <p:cNvSpPr/>
          <p:nvPr/>
        </p:nvSpPr>
        <p:spPr>
          <a:xfrm>
            <a:off x="4251960" y="3262614"/>
            <a:ext cx="4572000" cy="530352"/>
          </a:xfrm>
          <a:prstGeom prst="rect">
            <a:avLst/>
          </a:prstGeom>
          <a:solidFill>
            <a:srgbClr val="E8EDF5"/>
          </a:solidFill>
          <a:ln w="6350">
            <a:solidFill>
              <a:srgbClr val="D8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18">
            <a:extLst>
              <a:ext uri="{FF2B5EF4-FFF2-40B4-BE49-F238E27FC236}">
                <a16:creationId xmlns:a16="http://schemas.microsoft.com/office/drawing/2014/main" id="{2040468F-C4DF-7B41-1AFC-8700FE5C6DF5}"/>
              </a:ext>
            </a:extLst>
          </p:cNvPr>
          <p:cNvSpPr/>
          <p:nvPr/>
        </p:nvSpPr>
        <p:spPr>
          <a:xfrm>
            <a:off x="4251960" y="3262614"/>
            <a:ext cx="50292" cy="530352"/>
          </a:xfrm>
          <a:prstGeom prst="rect">
            <a:avLst/>
          </a:prstGeom>
          <a:solidFill>
            <a:srgbClr val="C5993A"/>
          </a:solidFill>
          <a:ln w="12700">
            <a:solidFill>
              <a:srgbClr val="C59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19">
            <a:extLst>
              <a:ext uri="{FF2B5EF4-FFF2-40B4-BE49-F238E27FC236}">
                <a16:creationId xmlns:a16="http://schemas.microsoft.com/office/drawing/2014/main" id="{4EF796DB-21B5-7970-AE0F-D1C1D1463387}"/>
              </a:ext>
            </a:extLst>
          </p:cNvPr>
          <p:cNvSpPr/>
          <p:nvPr/>
        </p:nvSpPr>
        <p:spPr>
          <a:xfrm>
            <a:off x="4352544" y="331747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NOMINEE</a:t>
            </a:r>
            <a:endParaRPr lang="en-US" sz="1000" dirty="0"/>
          </a:p>
        </p:txBody>
      </p:sp>
      <p:sp>
        <p:nvSpPr>
          <p:cNvPr id="69" name="Text 20">
            <a:extLst>
              <a:ext uri="{FF2B5EF4-FFF2-40B4-BE49-F238E27FC236}">
                <a16:creationId xmlns:a16="http://schemas.microsoft.com/office/drawing/2014/main" id="{EBFBD9B7-9C1B-AABF-5685-A282E79348EB}"/>
              </a:ext>
            </a:extLst>
          </p:cNvPr>
          <p:cNvSpPr/>
          <p:nvPr/>
        </p:nvSpPr>
        <p:spPr>
          <a:xfrm>
            <a:off x="4352544" y="355522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~7,000 rows · nominee_id (IMDb nm…) · name</a:t>
            </a:r>
            <a:endParaRPr lang="en-US" sz="95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A396B97A-E6C9-88D7-71AA-A776DE6B259A}"/>
              </a:ext>
            </a:extLst>
          </p:cNvPr>
          <p:cNvSpPr/>
          <p:nvPr/>
        </p:nvSpPr>
        <p:spPr>
          <a:xfrm>
            <a:off x="4251960" y="3884406"/>
            <a:ext cx="45720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22">
            <a:extLst>
              <a:ext uri="{FF2B5EF4-FFF2-40B4-BE49-F238E27FC236}">
                <a16:creationId xmlns:a16="http://schemas.microsoft.com/office/drawing/2014/main" id="{B13ACCD7-A460-92B1-0074-3F3488A8961B}"/>
              </a:ext>
            </a:extLst>
          </p:cNvPr>
          <p:cNvSpPr/>
          <p:nvPr/>
        </p:nvSpPr>
        <p:spPr>
          <a:xfrm>
            <a:off x="4251960" y="3884406"/>
            <a:ext cx="50292" cy="530352"/>
          </a:xfrm>
          <a:prstGeom prst="rect">
            <a:avLst/>
          </a:prstGeom>
          <a:solidFill>
            <a:srgbClr val="C5993A"/>
          </a:solidFill>
          <a:ln w="12700">
            <a:solidFill>
              <a:srgbClr val="C59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23">
            <a:extLst>
              <a:ext uri="{FF2B5EF4-FFF2-40B4-BE49-F238E27FC236}">
                <a16:creationId xmlns:a16="http://schemas.microsoft.com/office/drawing/2014/main" id="{F8FF5DBF-52F1-C420-F379-572670008116}"/>
              </a:ext>
            </a:extLst>
          </p:cNvPr>
          <p:cNvSpPr/>
          <p:nvPr/>
        </p:nvSpPr>
        <p:spPr>
          <a:xfrm>
            <a:off x="4352544" y="393927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</a:t>
            </a:r>
            <a:endParaRPr lang="en-US" sz="1000" dirty="0"/>
          </a:p>
        </p:txBody>
      </p:sp>
      <p:sp>
        <p:nvSpPr>
          <p:cNvPr id="73" name="Text 24">
            <a:extLst>
              <a:ext uri="{FF2B5EF4-FFF2-40B4-BE49-F238E27FC236}">
                <a16:creationId xmlns:a16="http://schemas.microsoft.com/office/drawing/2014/main" id="{3F08397A-F8A0-AB9F-437F-6B07DE31A618}"/>
              </a:ext>
            </a:extLst>
          </p:cNvPr>
          <p:cNvSpPr/>
          <p:nvPr/>
        </p:nvSpPr>
        <p:spPr>
          <a:xfrm>
            <a:off x="4352544" y="417701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11,876 rows · winner 0/1 · FK to ceremony, film, category</a:t>
            </a:r>
            <a:endParaRPr lang="en-US" sz="950" dirty="0"/>
          </a:p>
        </p:txBody>
      </p:sp>
      <p:sp>
        <p:nvSpPr>
          <p:cNvPr id="74" name="Shape 25">
            <a:extLst>
              <a:ext uri="{FF2B5EF4-FFF2-40B4-BE49-F238E27FC236}">
                <a16:creationId xmlns:a16="http://schemas.microsoft.com/office/drawing/2014/main" id="{AA96AB0D-8873-7E87-B363-6A8E30B9AE1F}"/>
              </a:ext>
            </a:extLst>
          </p:cNvPr>
          <p:cNvSpPr/>
          <p:nvPr/>
        </p:nvSpPr>
        <p:spPr>
          <a:xfrm>
            <a:off x="4251960" y="4506198"/>
            <a:ext cx="4572000" cy="530352"/>
          </a:xfrm>
          <a:prstGeom prst="rect">
            <a:avLst/>
          </a:prstGeom>
          <a:solidFill>
            <a:srgbClr val="E8EDF5"/>
          </a:solidFill>
          <a:ln w="6350">
            <a:solidFill>
              <a:srgbClr val="D8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26">
            <a:extLst>
              <a:ext uri="{FF2B5EF4-FFF2-40B4-BE49-F238E27FC236}">
                <a16:creationId xmlns:a16="http://schemas.microsoft.com/office/drawing/2014/main" id="{97EF2DF6-5084-C601-B472-D55906B083FC}"/>
              </a:ext>
            </a:extLst>
          </p:cNvPr>
          <p:cNvSpPr/>
          <p:nvPr/>
        </p:nvSpPr>
        <p:spPr>
          <a:xfrm>
            <a:off x="4251960" y="4506198"/>
            <a:ext cx="50292" cy="530352"/>
          </a:xfrm>
          <a:prstGeom prst="rect">
            <a:avLst/>
          </a:prstGeom>
          <a:solidFill>
            <a:srgbClr val="C5993A"/>
          </a:solidFill>
          <a:ln w="12700">
            <a:solidFill>
              <a:srgbClr val="C59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27">
            <a:extLst>
              <a:ext uri="{FF2B5EF4-FFF2-40B4-BE49-F238E27FC236}">
                <a16:creationId xmlns:a16="http://schemas.microsoft.com/office/drawing/2014/main" id="{78A41A1D-5A5C-4DA6-E090-A2AEBFB2EE16}"/>
              </a:ext>
            </a:extLst>
          </p:cNvPr>
          <p:cNvSpPr/>
          <p:nvPr/>
        </p:nvSpPr>
        <p:spPr>
          <a:xfrm>
            <a:off x="4352544" y="456106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000" dirty="0"/>
          </a:p>
        </p:txBody>
      </p:sp>
      <p:sp>
        <p:nvSpPr>
          <p:cNvPr id="77" name="Text 28">
            <a:extLst>
              <a:ext uri="{FF2B5EF4-FFF2-40B4-BE49-F238E27FC236}">
                <a16:creationId xmlns:a16="http://schemas.microsoft.com/office/drawing/2014/main" id="{7D632594-8365-2265-8322-C1ACB9B84A76}"/>
              </a:ext>
            </a:extLst>
          </p:cNvPr>
          <p:cNvSpPr/>
          <p:nvPr/>
        </p:nvSpPr>
        <p:spPr>
          <a:xfrm>
            <a:off x="4352544" y="479880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· nom_id ↔ nominee_id · resolves many-to-many</a:t>
            </a:r>
            <a:endParaRPr lang="en-US" sz="95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81A450C8-22E8-C745-C94E-42F4754F5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65" y="1162936"/>
            <a:ext cx="3636269" cy="382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36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44BFD0-BB06-3E6C-CCCA-5D0F55152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619DFB9-FB16-1E43-6256-D2440E45B501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F5E"/>
          </a:solidFill>
          <a:ln w="12700">
            <a:solidFill>
              <a:srgbClr val="1D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24388D5-CC39-961E-656A-17DB4E5AC57C}"/>
              </a:ext>
            </a:extLst>
          </p:cNvPr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7943AE0-5CE8-A8AE-5B9E-A6F67EE5F4A7}"/>
              </a:ext>
            </a:extLst>
          </p:cNvPr>
          <p:cNvSpPr/>
          <p:nvPr/>
        </p:nvSpPr>
        <p:spPr>
          <a:xfrm>
            <a:off x="457200" y="91440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Star Schema Dimensional Model</a:t>
            </a:r>
            <a:endParaRPr lang="en-US" sz="22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8FCEA54B-0163-CFF4-6AAB-0072157382A4}"/>
              </a:ext>
            </a:extLst>
          </p:cNvPr>
          <p:cNvSpPr/>
          <p:nvPr/>
        </p:nvSpPr>
        <p:spPr>
          <a:xfrm>
            <a:off x="457200" y="58521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fact tables · 5 conformed dimensions · 1 bridge · snapshot fact for instant aggregation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EEB240A-EE24-BF80-8B81-60526B289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1" y="1064133"/>
            <a:ext cx="7447659" cy="398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769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F5E"/>
          </a:solidFill>
          <a:ln w="12700">
            <a:solidFill>
              <a:srgbClr val="1D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ETL — Extract, Transform, Load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CSV , Staging ,Operational ,Star Schema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1965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1965960" cy="62179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2527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14904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01_load.sql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24028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stg_oscars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raw columns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INSERT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filtering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96312" y="1234440"/>
            <a:ext cx="1965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96312" y="1234440"/>
            <a:ext cx="1965960" cy="62179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96312" y="12527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96312" y="14904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87752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02_create_load_tables.sql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87752" y="224028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normalisation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parsing &amp; decade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classification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72584" y="1234440"/>
            <a:ext cx="1965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72584" y="1234440"/>
            <a:ext cx="1965960" cy="62179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72584" y="12527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72584" y="14904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64024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64024" y="224028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dim_ceremony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dim_category / class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dim_film · dim_nominee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48856" y="1234440"/>
            <a:ext cx="1965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48856" y="1234440"/>
            <a:ext cx="1965960" cy="62179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48856" y="12527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48856" y="14904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0296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&amp; bridge tables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40296" y="224028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fact_nomination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bridge_participation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fact_ceremony_snapshot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applied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0896" y="4270248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9768" y="4389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TRANSFORMATIONS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68880" y="4407408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Normalisation (null/0/1 → INT)  ·  Year Parsing (SUBSTR → 4-digit)  ·  Decade Derivation (/10)*10  ·  Class Grouping (Creative/Technical)  ·  INSERT OR IGNORE Dedup  ·  ROW_NUMBER() Surrogate Keys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F5E"/>
          </a:solidFill>
          <a:ln w="12700">
            <a:solidFill>
              <a:srgbClr val="1D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Querying &amp; Data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analytical SQL queries — highlights from key findings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1024128"/>
            <a:ext cx="3977640" cy="41193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79" y="10241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MOST NOMINATED FILMS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20239" y="1024128"/>
            <a:ext cx="4703721" cy="41193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99089" y="1054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· NOMINATIONS BY DECADE</a:t>
            </a:r>
            <a:endParaRPr lang="en-US" sz="1100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17DE208-57B8-35D9-9FDA-D32DA85F7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81102"/>
              </p:ext>
            </p:extLst>
          </p:nvPr>
        </p:nvGraphicFramePr>
        <p:xfrm>
          <a:off x="538695" y="1408176"/>
          <a:ext cx="3042849" cy="3262315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2028566">
                  <a:extLst>
                    <a:ext uri="{9D8B030D-6E8A-4147-A177-3AD203B41FA5}">
                      <a16:colId xmlns:a16="http://schemas.microsoft.com/office/drawing/2014/main" val="1429205358"/>
                    </a:ext>
                  </a:extLst>
                </a:gridCol>
                <a:gridCol w="1014283">
                  <a:extLst>
                    <a:ext uri="{9D8B030D-6E8A-4147-A177-3AD203B41FA5}">
                      <a16:colId xmlns:a16="http://schemas.microsoft.com/office/drawing/2014/main" val="3965672259"/>
                    </a:ext>
                  </a:extLst>
                </a:gridCol>
              </a:tblGrid>
              <a:tr h="318085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Film</a:t>
                      </a:r>
                      <a:endParaRPr lang="en-GB" sz="850" b="1" kern="1200" dirty="0">
                        <a:solidFill>
                          <a:srgbClr val="FFFFFF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59157" marB="59157" anchor="ctr">
                    <a:solidFill>
                      <a:srgbClr val="2869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Nominations</a:t>
                      </a:r>
                      <a:endParaRPr lang="en-GB" sz="850" b="1" kern="1200" dirty="0">
                        <a:solidFill>
                          <a:srgbClr val="FFFFFF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59157" marB="59157" anchor="ctr">
                    <a:solidFill>
                      <a:srgbClr val="2869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516215"/>
                  </a:ext>
                </a:extLst>
              </a:tr>
              <a:tr h="29442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A Star Is Born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26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extLst>
                  <a:ext uri="{0D108BD9-81ED-4DB2-BD59-A6C34878D82A}">
                    <a16:rowId xmlns:a16="http://schemas.microsoft.com/office/drawing/2014/main" val="162871848"/>
                  </a:ext>
                </a:extLst>
              </a:tr>
              <a:tr h="29442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West Side Story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18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extLst>
                  <a:ext uri="{0D108BD9-81ED-4DB2-BD59-A6C34878D82A}">
                    <a16:rowId xmlns:a16="http://schemas.microsoft.com/office/drawing/2014/main" val="2897945640"/>
                  </a:ext>
                </a:extLst>
              </a:tr>
              <a:tr h="29442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Titanic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16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extLst>
                  <a:ext uri="{0D108BD9-81ED-4DB2-BD59-A6C34878D82A}">
                    <a16:rowId xmlns:a16="http://schemas.microsoft.com/office/drawing/2014/main" val="1045728384"/>
                  </a:ext>
                </a:extLst>
              </a:tr>
              <a:tr h="29442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Mutiny on the Bounty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15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extLst>
                  <a:ext uri="{0D108BD9-81ED-4DB2-BD59-A6C34878D82A}">
                    <a16:rowId xmlns:a16="http://schemas.microsoft.com/office/drawing/2014/main" val="3678811071"/>
                  </a:ext>
                </a:extLst>
              </a:tr>
              <a:tr h="29442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Moulin Rouge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15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extLst>
                  <a:ext uri="{0D108BD9-81ED-4DB2-BD59-A6C34878D82A}">
                    <a16:rowId xmlns:a16="http://schemas.microsoft.com/office/drawing/2014/main" val="23691742"/>
                  </a:ext>
                </a:extLst>
              </a:tr>
              <a:tr h="29442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Gone with the Wind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15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extLst>
                  <a:ext uri="{0D108BD9-81ED-4DB2-BD59-A6C34878D82A}">
                    <a16:rowId xmlns:a16="http://schemas.microsoft.com/office/drawing/2014/main" val="1900893432"/>
                  </a:ext>
                </a:extLst>
              </a:tr>
              <a:tr h="29442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Little Women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14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extLst>
                  <a:ext uri="{0D108BD9-81ED-4DB2-BD59-A6C34878D82A}">
                    <a16:rowId xmlns:a16="http://schemas.microsoft.com/office/drawing/2014/main" val="3440229626"/>
                  </a:ext>
                </a:extLst>
              </a:tr>
              <a:tr h="29442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La La Land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14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extLst>
                  <a:ext uri="{0D108BD9-81ED-4DB2-BD59-A6C34878D82A}">
                    <a16:rowId xmlns:a16="http://schemas.microsoft.com/office/drawing/2014/main" val="1389677875"/>
                  </a:ext>
                </a:extLst>
              </a:tr>
              <a:tr h="29442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Cleopatra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14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extLst>
                  <a:ext uri="{0D108BD9-81ED-4DB2-BD59-A6C34878D82A}">
                    <a16:rowId xmlns:a16="http://schemas.microsoft.com/office/drawing/2014/main" val="798870183"/>
                  </a:ext>
                </a:extLst>
              </a:tr>
              <a:tr h="294423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All about Eve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-120"/>
                        </a:rPr>
                        <a:t>14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Aptos" panose="020B0004020202020204" pitchFamily="34" charset="0"/>
                        <a:cs typeface="Calibri" pitchFamily="34" charset="-120"/>
                      </a:endParaRPr>
                    </a:p>
                  </a:txBody>
                  <a:tcPr marL="82819" marR="82819" marT="47325" marB="47325"/>
                </a:tc>
                <a:extLst>
                  <a:ext uri="{0D108BD9-81ED-4DB2-BD59-A6C34878D82A}">
                    <a16:rowId xmlns:a16="http://schemas.microsoft.com/office/drawing/2014/main" val="2469336502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A98ED68E-213F-7F48-DC99-DBAA68966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089" y="1327419"/>
            <a:ext cx="4298871" cy="1946675"/>
          </a:xfrm>
          <a:prstGeom prst="rect">
            <a:avLst/>
          </a:prstGeom>
        </p:spPr>
      </p:pic>
      <p:sp>
        <p:nvSpPr>
          <p:cNvPr id="21" name="Text 13">
            <a:extLst>
              <a:ext uri="{FF2B5EF4-FFF2-40B4-BE49-F238E27FC236}">
                <a16:creationId xmlns:a16="http://schemas.microsoft.com/office/drawing/2014/main" id="{3F439809-A072-4D83-CB45-2950487E6CF6}"/>
              </a:ext>
            </a:extLst>
          </p:cNvPr>
          <p:cNvSpPr/>
          <p:nvPr/>
        </p:nvSpPr>
        <p:spPr>
          <a:xfrm>
            <a:off x="4412089" y="31531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· NOMINATIONS BY DECADE</a:t>
            </a:r>
            <a:endParaRPr lang="en-US" sz="11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656D3C8-259A-7185-93BE-1038AA3AD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934708"/>
              </p:ext>
            </p:extLst>
          </p:nvPr>
        </p:nvGraphicFramePr>
        <p:xfrm>
          <a:off x="4516335" y="3420728"/>
          <a:ext cx="3974559" cy="1678686"/>
        </p:xfrm>
        <a:graphic>
          <a:graphicData uri="http://schemas.openxmlformats.org/drawingml/2006/table">
            <a:tbl>
              <a:tblPr>
                <a:tableStyleId>{5A111915-BE36-4E01-A7E5-04B1672EAD32}</a:tableStyleId>
              </a:tblPr>
              <a:tblGrid>
                <a:gridCol w="1453777">
                  <a:extLst>
                    <a:ext uri="{9D8B030D-6E8A-4147-A177-3AD203B41FA5}">
                      <a16:colId xmlns:a16="http://schemas.microsoft.com/office/drawing/2014/main" val="636246021"/>
                    </a:ext>
                  </a:extLst>
                </a:gridCol>
                <a:gridCol w="871209">
                  <a:extLst>
                    <a:ext uri="{9D8B030D-6E8A-4147-A177-3AD203B41FA5}">
                      <a16:colId xmlns:a16="http://schemas.microsoft.com/office/drawing/2014/main" val="2762141975"/>
                    </a:ext>
                  </a:extLst>
                </a:gridCol>
                <a:gridCol w="652775">
                  <a:extLst>
                    <a:ext uri="{9D8B030D-6E8A-4147-A177-3AD203B41FA5}">
                      <a16:colId xmlns:a16="http://schemas.microsoft.com/office/drawing/2014/main" val="2005701919"/>
                    </a:ext>
                  </a:extLst>
                </a:gridCol>
                <a:gridCol w="996798">
                  <a:extLst>
                    <a:ext uri="{9D8B030D-6E8A-4147-A177-3AD203B41FA5}">
                      <a16:colId xmlns:a16="http://schemas.microsoft.com/office/drawing/2014/main" val="1622399763"/>
                    </a:ext>
                  </a:extLst>
                </a:gridCol>
              </a:tblGrid>
              <a:tr h="23267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1" kern="1200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GB" sz="850" b="1" kern="1200" dirty="0">
                        <a:solidFill>
                          <a:srgbClr val="FFFFFF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>
                    <a:solidFill>
                      <a:srgbClr val="2869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1" kern="1200">
                          <a:solidFill>
                            <a:srgbClr val="FFFFFF"/>
                          </a:solidFill>
                        </a:rPr>
                        <a:t>Nominations</a:t>
                      </a:r>
                      <a:endParaRPr lang="en-GB" sz="850" b="1" kern="1200">
                        <a:solidFill>
                          <a:srgbClr val="FFFFFF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>
                    <a:solidFill>
                      <a:srgbClr val="2869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1" kern="1200">
                          <a:solidFill>
                            <a:srgbClr val="FFFFFF"/>
                          </a:solidFill>
                        </a:rPr>
                        <a:t>Wins</a:t>
                      </a:r>
                      <a:endParaRPr lang="en-GB" sz="850" b="1" kern="1200">
                        <a:solidFill>
                          <a:srgbClr val="FFFFFF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>
                    <a:solidFill>
                      <a:srgbClr val="2869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1" kern="1200" dirty="0">
                          <a:solidFill>
                            <a:srgbClr val="FFFFFF"/>
                          </a:solidFill>
                        </a:rPr>
                        <a:t>Win Rate</a:t>
                      </a:r>
                      <a:endParaRPr lang="en-GB" sz="850" b="1" kern="1200" dirty="0">
                        <a:solidFill>
                          <a:srgbClr val="FFFFFF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>
                    <a:solidFill>
                      <a:srgbClr val="2869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164333"/>
                  </a:ext>
                </a:extLst>
              </a:tr>
              <a:tr h="23267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</a:rPr>
                        <a:t>A Star Is Born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</a:rPr>
                        <a:t>15.4%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044466717"/>
                  </a:ext>
                </a:extLst>
              </a:tr>
              <a:tr h="23267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</a:rPr>
                        <a:t>West Side Story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</a:rPr>
                        <a:t>61.1%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287388082"/>
                  </a:ext>
                </a:extLst>
              </a:tr>
              <a:tr h="23267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</a:rPr>
                        <a:t>Titanic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</a:rPr>
                        <a:t>75.0%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71287567"/>
                  </a:ext>
                </a:extLst>
              </a:tr>
              <a:tr h="23267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</a:rPr>
                        <a:t>Mutiny on the Bounty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</a:rPr>
                        <a:t>6.7%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79350326"/>
                  </a:ext>
                </a:extLst>
              </a:tr>
              <a:tr h="23267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</a:rPr>
                        <a:t>Gone with the Wind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GB" sz="850" b="0" kern="120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41000"/>
                        </a:lnSpc>
                        <a:spcBef>
                          <a:spcPts val="40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GB" sz="850" b="0" kern="1200" dirty="0">
                          <a:solidFill>
                            <a:schemeClr val="tx1"/>
                          </a:solidFill>
                        </a:rPr>
                        <a:t>66.7%</a:t>
                      </a:r>
                      <a:endParaRPr lang="en-GB" sz="850" b="0" kern="1200" dirty="0">
                        <a:solidFill>
                          <a:schemeClr val="tx1"/>
                        </a:solidFill>
                        <a:latin typeface="Calibri" pitchFamily="34" charset="0"/>
                        <a:ea typeface="+mn-ea"/>
                        <a:cs typeface="Calibri" pitchFamily="34" charset="-120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9645166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F5E"/>
          </a:solidFill>
          <a:ln w="12700">
            <a:solidFill>
              <a:srgbClr val="1D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Querying &amp; Data Analysis (cont.)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rates, class analysis &amp; most decorated nominees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1005840"/>
            <a:ext cx="2926080" cy="41376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TOP CATEGORIES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1005840"/>
            <a:ext cx="2743200" cy="41376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355848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· CLASS WIN RATES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1005840"/>
            <a:ext cx="2651760" cy="41376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281928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· TOP NOMINEES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36208" y="1691640"/>
            <a:ext cx="248716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236208" y="2286000"/>
            <a:ext cx="100289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7239098" y="2286000"/>
            <a:ext cx="1484278" cy="73152"/>
          </a:xfrm>
          <a:prstGeom prst="rect">
            <a:avLst/>
          </a:prstGeom>
          <a:solidFill>
            <a:srgbClr val="D9E4EE"/>
          </a:solidFill>
          <a:ln w="12700">
            <a:solidFill>
              <a:srgbClr val="D9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309360" y="17465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 Disney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0936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wins / 62 nom.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8138160" y="174650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40.3%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236208" y="2514600"/>
            <a:ext cx="248716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6236208" y="3108960"/>
            <a:ext cx="2487168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723376" y="3108960"/>
            <a:ext cx="0" cy="73152"/>
          </a:xfrm>
          <a:prstGeom prst="rect">
            <a:avLst/>
          </a:prstGeom>
          <a:solidFill>
            <a:srgbClr val="D9E4EE"/>
          </a:solidFill>
          <a:ln w="12700">
            <a:solidFill>
              <a:srgbClr val="D9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309360" y="2569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Eastman Kodak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30936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wins / 15 nom.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8138160" y="256946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236208" y="3337560"/>
            <a:ext cx="248716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6236208" y="3931920"/>
            <a:ext cx="475488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6711696" y="3931920"/>
            <a:ext cx="2011680" cy="73152"/>
          </a:xfrm>
          <a:prstGeom prst="rect">
            <a:avLst/>
          </a:prstGeom>
          <a:solidFill>
            <a:srgbClr val="D9E4EE"/>
          </a:solidFill>
          <a:ln w="12700">
            <a:solidFill>
              <a:srgbClr val="D9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6309360" y="3392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Metro-Goldwyn-Mayer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30936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wins / 68 nom.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8138160" y="339242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19.1%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6236208" y="4160520"/>
            <a:ext cx="248716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6236208" y="4754880"/>
            <a:ext cx="512064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6748272" y="4754880"/>
            <a:ext cx="1975104" cy="73152"/>
          </a:xfrm>
          <a:prstGeom prst="rect">
            <a:avLst/>
          </a:prstGeom>
          <a:solidFill>
            <a:srgbClr val="D9E4EE"/>
          </a:solidFill>
          <a:ln w="12700">
            <a:solidFill>
              <a:srgbClr val="D9E4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6309360" y="4215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Newman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30936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wins / 34 nom.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8138160" y="421538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20.6%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6240780" y="49210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SciTech 100% </a:t>
            </a:r>
            <a:r>
              <a:rPr lang="en-US" sz="750" i="1" dirty="0" err="1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rte</a:t>
            </a:r>
            <a:r>
              <a:rPr lang="en-US" sz="7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honorary, non-competitive by definition</a:t>
            </a:r>
            <a:endParaRPr lang="en-US" sz="750" dirty="0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FC2DD00D-C490-A0AE-89F6-9253466AC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477740"/>
              </p:ext>
            </p:extLst>
          </p:nvPr>
        </p:nvGraphicFramePr>
        <p:xfrm>
          <a:off x="221549" y="1684678"/>
          <a:ext cx="2607109" cy="2805027"/>
        </p:xfrm>
        <a:graphic>
          <a:graphicData uri="http://schemas.openxmlformats.org/drawingml/2006/table">
            <a:tbl>
              <a:tblPr>
                <a:tableStyleId>{5A111915-BE36-4E01-A7E5-04B1672EAD32}</a:tableStyleId>
              </a:tblPr>
              <a:tblGrid>
                <a:gridCol w="1693609">
                  <a:extLst>
                    <a:ext uri="{9D8B030D-6E8A-4147-A177-3AD203B41FA5}">
                      <a16:colId xmlns:a16="http://schemas.microsoft.com/office/drawing/2014/main" val="1627084980"/>
                    </a:ext>
                  </a:extLst>
                </a:gridCol>
                <a:gridCol w="913500">
                  <a:extLst>
                    <a:ext uri="{9D8B030D-6E8A-4147-A177-3AD203B41FA5}">
                      <a16:colId xmlns:a16="http://schemas.microsoft.com/office/drawing/2014/main" val="3858979508"/>
                    </a:ext>
                  </a:extLst>
                </a:gridCol>
              </a:tblGrid>
              <a:tr h="216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b="1" dirty="0">
                          <a:solidFill>
                            <a:schemeClr val="bg1"/>
                          </a:solidFill>
                          <a:effectLst/>
                        </a:rPr>
                        <a:t>Category</a:t>
                      </a:r>
                    </a:p>
                  </a:txBody>
                  <a:tcPr marL="94497" marR="94497" marT="43614" marB="43614" anchor="ctr">
                    <a:solidFill>
                      <a:srgbClr val="26639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b="1" dirty="0">
                          <a:solidFill>
                            <a:schemeClr val="bg1"/>
                          </a:solidFill>
                          <a:effectLst/>
                        </a:rPr>
                        <a:t>Nominations</a:t>
                      </a:r>
                    </a:p>
                  </a:txBody>
                  <a:tcPr marL="94497" marR="94497" marT="43614" marB="43614" anchor="ctr">
                    <a:solidFill>
                      <a:srgbClr val="2663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563632"/>
                  </a:ext>
                </a:extLst>
              </a:tr>
              <a:tr h="216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dirty="0">
                          <a:effectLst/>
                        </a:rPr>
                        <a:t>BEST PICTURE</a:t>
                      </a:r>
                    </a:p>
                  </a:txBody>
                  <a:tcPr marL="94497" marR="94497" marT="43614" marB="436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601</a:t>
                      </a:r>
                    </a:p>
                  </a:txBody>
                  <a:tcPr marL="94497" marR="94497" marT="43614" marB="43614" anchor="ctr"/>
                </a:tc>
                <a:extLst>
                  <a:ext uri="{0D108BD9-81ED-4DB2-BD59-A6C34878D82A}">
                    <a16:rowId xmlns:a16="http://schemas.microsoft.com/office/drawing/2014/main" val="4041764097"/>
                  </a:ext>
                </a:extLst>
              </a:tr>
              <a:tr h="216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MUSIC (Original Score)</a:t>
                      </a:r>
                    </a:p>
                  </a:txBody>
                  <a:tcPr marL="94497" marR="94497" marT="43614" marB="436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519</a:t>
                      </a:r>
                    </a:p>
                  </a:txBody>
                  <a:tcPr marL="94497" marR="94497" marT="43614" marB="43614" anchor="ctr"/>
                </a:tc>
                <a:extLst>
                  <a:ext uri="{0D108BD9-81ED-4DB2-BD59-A6C34878D82A}">
                    <a16:rowId xmlns:a16="http://schemas.microsoft.com/office/drawing/2014/main" val="438560807"/>
                  </a:ext>
                </a:extLst>
              </a:tr>
              <a:tr h="216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dirty="0">
                          <a:effectLst/>
                        </a:rPr>
                        <a:t>MUSIC (Original Song)</a:t>
                      </a:r>
                    </a:p>
                  </a:txBody>
                  <a:tcPr marL="94497" marR="94497" marT="43614" marB="436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dirty="0">
                          <a:effectLst/>
                        </a:rPr>
                        <a:t>475</a:t>
                      </a:r>
                    </a:p>
                  </a:txBody>
                  <a:tcPr marL="94497" marR="94497" marT="43614" marB="43614" anchor="ctr"/>
                </a:tc>
                <a:extLst>
                  <a:ext uri="{0D108BD9-81ED-4DB2-BD59-A6C34878D82A}">
                    <a16:rowId xmlns:a16="http://schemas.microsoft.com/office/drawing/2014/main" val="3941906087"/>
                  </a:ext>
                </a:extLst>
              </a:tr>
              <a:tr h="216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DIRECTING</a:t>
                      </a:r>
                    </a:p>
                  </a:txBody>
                  <a:tcPr marL="94497" marR="94497" marT="43614" marB="436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471</a:t>
                      </a:r>
                    </a:p>
                  </a:txBody>
                  <a:tcPr marL="94497" marR="94497" marT="43614" marB="43614" anchor="ctr"/>
                </a:tc>
                <a:extLst>
                  <a:ext uri="{0D108BD9-81ED-4DB2-BD59-A6C34878D82A}">
                    <a16:rowId xmlns:a16="http://schemas.microsoft.com/office/drawing/2014/main" val="1849668943"/>
                  </a:ext>
                </a:extLst>
              </a:tr>
              <a:tr h="216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dirty="0">
                          <a:effectLst/>
                        </a:rPr>
                        <a:t>FILM EDITING</a:t>
                      </a:r>
                    </a:p>
                  </a:txBody>
                  <a:tcPr marL="94497" marR="94497" marT="43614" marB="436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dirty="0">
                          <a:effectLst/>
                        </a:rPr>
                        <a:t>450</a:t>
                      </a:r>
                    </a:p>
                  </a:txBody>
                  <a:tcPr marL="94497" marR="94497" marT="43614" marB="43614" anchor="ctr"/>
                </a:tc>
                <a:extLst>
                  <a:ext uri="{0D108BD9-81ED-4DB2-BD59-A6C34878D82A}">
                    <a16:rowId xmlns:a16="http://schemas.microsoft.com/office/drawing/2014/main" val="1867443781"/>
                  </a:ext>
                </a:extLst>
              </a:tr>
              <a:tr h="300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dirty="0">
                          <a:effectLst/>
                        </a:rPr>
                        <a:t>ACTRESS IN A SUPPORTING ROLE</a:t>
                      </a:r>
                    </a:p>
                  </a:txBody>
                  <a:tcPr marL="94497" marR="94497" marT="43614" marB="436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dirty="0">
                          <a:effectLst/>
                        </a:rPr>
                        <a:t>440</a:t>
                      </a:r>
                    </a:p>
                  </a:txBody>
                  <a:tcPr marL="94497" marR="94497" marT="43614" marB="43614" anchor="ctr"/>
                </a:tc>
                <a:extLst>
                  <a:ext uri="{0D108BD9-81ED-4DB2-BD59-A6C34878D82A}">
                    <a16:rowId xmlns:a16="http://schemas.microsoft.com/office/drawing/2014/main" val="3459875020"/>
                  </a:ext>
                </a:extLst>
              </a:tr>
              <a:tr h="300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dirty="0">
                          <a:effectLst/>
                        </a:rPr>
                        <a:t>ACTOR IN A SUPPORTING ROLE</a:t>
                      </a:r>
                    </a:p>
                  </a:txBody>
                  <a:tcPr marL="94497" marR="94497" marT="43614" marB="436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dirty="0">
                          <a:effectLst/>
                        </a:rPr>
                        <a:t>440</a:t>
                      </a:r>
                    </a:p>
                  </a:txBody>
                  <a:tcPr marL="94497" marR="94497" marT="43614" marB="43614" anchor="ctr"/>
                </a:tc>
                <a:extLst>
                  <a:ext uri="{0D108BD9-81ED-4DB2-BD59-A6C34878D82A}">
                    <a16:rowId xmlns:a16="http://schemas.microsoft.com/office/drawing/2014/main" val="1037736928"/>
                  </a:ext>
                </a:extLst>
              </a:tr>
              <a:tr h="300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WRITING (Original Screenplay)</a:t>
                      </a:r>
                    </a:p>
                  </a:txBody>
                  <a:tcPr marL="94497" marR="94497" marT="43614" marB="436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dirty="0">
                          <a:effectLst/>
                        </a:rPr>
                        <a:t>415</a:t>
                      </a:r>
                    </a:p>
                  </a:txBody>
                  <a:tcPr marL="94497" marR="94497" marT="43614" marB="43614" anchor="ctr"/>
                </a:tc>
                <a:extLst>
                  <a:ext uri="{0D108BD9-81ED-4DB2-BD59-A6C34878D82A}">
                    <a16:rowId xmlns:a16="http://schemas.microsoft.com/office/drawing/2014/main" val="3661807356"/>
                  </a:ext>
                </a:extLst>
              </a:tr>
              <a:tr h="300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SHORT FILM (Animated)</a:t>
                      </a:r>
                    </a:p>
                  </a:txBody>
                  <a:tcPr marL="94497" marR="94497" marT="43614" marB="436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393</a:t>
                      </a:r>
                    </a:p>
                  </a:txBody>
                  <a:tcPr marL="94497" marR="94497" marT="43614" marB="43614" anchor="ctr"/>
                </a:tc>
                <a:extLst>
                  <a:ext uri="{0D108BD9-81ED-4DB2-BD59-A6C34878D82A}">
                    <a16:rowId xmlns:a16="http://schemas.microsoft.com/office/drawing/2014/main" val="3185348550"/>
                  </a:ext>
                </a:extLst>
              </a:tr>
              <a:tr h="300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DOCUMENTARY (Short Subject)</a:t>
                      </a:r>
                    </a:p>
                  </a:txBody>
                  <a:tcPr marL="94497" marR="94497" marT="43614" marB="4361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dirty="0">
                          <a:effectLst/>
                        </a:rPr>
                        <a:t>387</a:t>
                      </a:r>
                    </a:p>
                  </a:txBody>
                  <a:tcPr marL="94497" marR="94497" marT="43614" marB="43614" anchor="ctr"/>
                </a:tc>
                <a:extLst>
                  <a:ext uri="{0D108BD9-81ED-4DB2-BD59-A6C34878D82A}">
                    <a16:rowId xmlns:a16="http://schemas.microsoft.com/office/drawing/2014/main" val="2503256658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D9ABC948-1FA1-1870-574E-0F617A6B6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368084"/>
              </p:ext>
            </p:extLst>
          </p:nvPr>
        </p:nvGraphicFramePr>
        <p:xfrm>
          <a:off x="3328416" y="1750436"/>
          <a:ext cx="2606040" cy="2644026"/>
        </p:xfrm>
        <a:graphic>
          <a:graphicData uri="http://schemas.openxmlformats.org/drawingml/2006/table">
            <a:tbl>
              <a:tblPr>
                <a:tableStyleId>{5A111915-BE36-4E01-A7E5-04B1672EAD32}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106193359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354173418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1384405421"/>
                    </a:ext>
                  </a:extLst>
                </a:gridCol>
              </a:tblGrid>
              <a:tr h="368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b="1" dirty="0">
                          <a:solidFill>
                            <a:schemeClr val="bg1"/>
                          </a:solidFill>
                          <a:effectLst/>
                        </a:rPr>
                        <a:t>Class</a:t>
                      </a:r>
                    </a:p>
                  </a:txBody>
                  <a:tcPr marL="123825" marR="123825" marT="57150" marB="57150" anchor="ctr">
                    <a:solidFill>
                      <a:srgbClr val="26639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b="1" dirty="0">
                          <a:solidFill>
                            <a:schemeClr val="bg1"/>
                          </a:solidFill>
                          <a:effectLst/>
                        </a:rPr>
                        <a:t>Nominations</a:t>
                      </a:r>
                    </a:p>
                  </a:txBody>
                  <a:tcPr marL="123825" marR="123825" marT="57150" marB="57150" anchor="ctr">
                    <a:solidFill>
                      <a:srgbClr val="26639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b="1" dirty="0">
                          <a:solidFill>
                            <a:schemeClr val="bg1"/>
                          </a:solidFill>
                          <a:effectLst/>
                        </a:rPr>
                        <a:t>Win Rate</a:t>
                      </a:r>
                    </a:p>
                  </a:txBody>
                  <a:tcPr marL="123825" marR="123825" marT="57150" marB="57150" anchor="ctr">
                    <a:solidFill>
                      <a:srgbClr val="2663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378334"/>
                  </a:ext>
                </a:extLst>
              </a:tr>
              <a:tr h="455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Production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3222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21.2%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273274258"/>
                  </a:ext>
                </a:extLst>
              </a:tr>
              <a:tr h="455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Title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2706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21.1%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63027520"/>
                  </a:ext>
                </a:extLst>
              </a:tr>
              <a:tr h="455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dirty="0">
                          <a:effectLst/>
                        </a:rPr>
                        <a:t>Acting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dirty="0">
                          <a:effectLst/>
                        </a:rPr>
                        <a:t>1835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20.3%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682550021"/>
                  </a:ext>
                </a:extLst>
              </a:tr>
              <a:tr h="455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SciTech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890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100.0%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943866433"/>
                  </a:ext>
                </a:extLst>
              </a:tr>
              <a:tr h="455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dirty="0">
                          <a:effectLst/>
                        </a:rPr>
                        <a:t>Special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>
                          <a:effectLst/>
                        </a:rPr>
                        <a:t>376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50" dirty="0">
                          <a:effectLst/>
                        </a:rPr>
                        <a:t>98.4%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2143139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F5E"/>
          </a:solidFill>
          <a:ln w="12700">
            <a:solidFill>
              <a:srgbClr val="1D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Visualisation — Power BI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charts across 2 report pages — bars, lines, donut, KPI cards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1022761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1034382"/>
            <a:ext cx="475488" cy="65836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103438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86968" y="1072067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50" b="1" dirty="0">
                <a:solidFill>
                  <a:srgbClr val="26639C"/>
                </a:solidFill>
                <a:latin typeface="Calibri" pitchFamily="34" charset="0"/>
                <a:cs typeface="Calibri" pitchFamily="34" charset="-120"/>
              </a:rPr>
              <a:t>Top 10 Most Nominated Films</a:t>
            </a:r>
            <a:endParaRPr lang="en-US" sz="950" b="1" dirty="0">
              <a:solidFill>
                <a:srgbClr val="26639C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86968" y="1300667"/>
            <a:ext cx="3520440" cy="297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</a:t>
            </a:r>
            <a:r>
              <a:rPr lang="en-US" sz="800" dirty="0">
                <a:solidFill>
                  <a:srgbClr val="4A6080"/>
                </a:solidFill>
                <a:latin typeface="+mj-lt"/>
                <a:ea typeface="Calibri" pitchFamily="34" charset="-122"/>
                <a:cs typeface="Calibri" pitchFamily="34" charset="-120"/>
              </a:rPr>
              <a:t>— </a:t>
            </a:r>
            <a:r>
              <a:rPr lang="en-GB" sz="800" dirty="0">
                <a:solidFill>
                  <a:srgbClr val="4A6080"/>
                </a:solidFill>
                <a:latin typeface="Calibri" pitchFamily="34" charset="0"/>
                <a:cs typeface="Calibri" pitchFamily="34" charset="-120"/>
              </a:rPr>
              <a:t>A Star Is Born has 26 nominations — highest ever — because it was made 4 times across different decades.</a:t>
            </a:r>
            <a:endParaRPr lang="en-US" sz="800" dirty="0">
              <a:solidFill>
                <a:srgbClr val="4A6080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0040" y="283464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</a:t>
            </a:r>
            <a:endParaRPr lang="en-US" sz="750" dirty="0"/>
          </a:p>
        </p:txBody>
      </p:sp>
      <p:sp>
        <p:nvSpPr>
          <p:cNvPr id="56" name="Shape 24">
            <a:extLst>
              <a:ext uri="{FF2B5EF4-FFF2-40B4-BE49-F238E27FC236}">
                <a16:creationId xmlns:a16="http://schemas.microsoft.com/office/drawing/2014/main" id="{03D507C5-C355-716D-5756-CAE1E3A2E000}"/>
              </a:ext>
            </a:extLst>
          </p:cNvPr>
          <p:cNvSpPr/>
          <p:nvPr/>
        </p:nvSpPr>
        <p:spPr>
          <a:xfrm>
            <a:off x="4709160" y="1006181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2B3D00C3-C8D9-5CB2-BCEB-779D84D3E293}"/>
              </a:ext>
            </a:extLst>
          </p:cNvPr>
          <p:cNvSpPr/>
          <p:nvPr/>
        </p:nvSpPr>
        <p:spPr>
          <a:xfrm>
            <a:off x="320040" y="283464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</a:t>
            </a:r>
            <a:endParaRPr lang="en-US" sz="750" dirty="0"/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A299DA19-3912-62A7-EB68-C4A91CA6479D}"/>
              </a:ext>
            </a:extLst>
          </p:cNvPr>
          <p:cNvSpPr/>
          <p:nvPr/>
        </p:nvSpPr>
        <p:spPr>
          <a:xfrm>
            <a:off x="5394960" y="1022761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 Wins by Decade</a:t>
            </a:r>
            <a:endParaRPr lang="en-US" sz="950" dirty="0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12F738DD-5C0C-BC49-4928-8F6D62F4A757}"/>
              </a:ext>
            </a:extLst>
          </p:cNvPr>
          <p:cNvSpPr/>
          <p:nvPr/>
        </p:nvSpPr>
        <p:spPr>
          <a:xfrm>
            <a:off x="5394960" y="1250850"/>
            <a:ext cx="3520440" cy="29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Chart — </a:t>
            </a:r>
            <a:r>
              <a:rPr lang="en-GB" sz="800" dirty="0">
                <a:solidFill>
                  <a:srgbClr val="4A6080"/>
                </a:solidFill>
                <a:latin typeface="Calibri" pitchFamily="34" charset="0"/>
                <a:cs typeface="Calibri" pitchFamily="34" charset="-120"/>
              </a:rPr>
              <a:t>The 1940s–1990s had the highest activity. films were nominated vs how many actually  won across each decade</a:t>
            </a:r>
            <a:endParaRPr lang="en-US" sz="800" dirty="0">
              <a:solidFill>
                <a:srgbClr val="4A6080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E4423BB5-1A9B-D149-3333-208AE324308C}"/>
              </a:ext>
            </a:extLst>
          </p:cNvPr>
          <p:cNvSpPr/>
          <p:nvPr/>
        </p:nvSpPr>
        <p:spPr>
          <a:xfrm>
            <a:off x="4709160" y="1006181"/>
            <a:ext cx="475488" cy="65836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69AAA872-F231-A0FE-E57D-5EFEDDF25C0C}"/>
              </a:ext>
            </a:extLst>
          </p:cNvPr>
          <p:cNvSpPr/>
          <p:nvPr/>
        </p:nvSpPr>
        <p:spPr>
          <a:xfrm>
            <a:off x="4736592" y="1006181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</a:t>
            </a:r>
            <a:endParaRPr lang="en-US" sz="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F999C9-0E35-3B51-D220-9285B29C0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2516"/>
            <a:ext cx="4251960" cy="2774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AC5A36-1208-844A-2F1A-0C2FAE268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834297"/>
            <a:ext cx="4206240" cy="27514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757CD3-2169-200D-BDFC-052F0FB9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DA9416-DBB8-320E-EF94-3014EB959BEF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F5E"/>
          </a:solidFill>
          <a:ln w="12700">
            <a:solidFill>
              <a:srgbClr val="1D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FBA728D-2BE2-1E7A-917A-EFDB8FA53790}"/>
              </a:ext>
            </a:extLst>
          </p:cNvPr>
          <p:cNvSpPr/>
          <p:nvPr/>
        </p:nvSpPr>
        <p:spPr>
          <a:xfrm>
            <a:off x="41148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Visualisation — Power BI Dashboard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6E4160-A87B-A621-5FDB-2B596155760D}"/>
              </a:ext>
            </a:extLst>
          </p:cNvPr>
          <p:cNvSpPr/>
          <p:nvPr/>
        </p:nvSpPr>
        <p:spPr>
          <a:xfrm>
            <a:off x="411480" y="594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charts across 2 report pages — bars, lines, donut, KPI cards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632518E-2304-BD30-46F5-C454848FD1EC}"/>
              </a:ext>
            </a:extLst>
          </p:cNvPr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0920DBB-4254-E6E1-6835-DDABAE24A755}"/>
              </a:ext>
            </a:extLst>
          </p:cNvPr>
          <p:cNvSpPr/>
          <p:nvPr/>
        </p:nvSpPr>
        <p:spPr>
          <a:xfrm>
            <a:off x="320040" y="1073339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B2A289D-1368-1ABA-C177-B91395524601}"/>
              </a:ext>
            </a:extLst>
          </p:cNvPr>
          <p:cNvSpPr/>
          <p:nvPr/>
        </p:nvSpPr>
        <p:spPr>
          <a:xfrm>
            <a:off x="320040" y="1075360"/>
            <a:ext cx="475488" cy="65836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E4E1C33-88C4-A19D-12FE-84A53B62404A}"/>
              </a:ext>
            </a:extLst>
          </p:cNvPr>
          <p:cNvSpPr/>
          <p:nvPr/>
        </p:nvSpPr>
        <p:spPr>
          <a:xfrm>
            <a:off x="320040" y="1079321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</a:t>
            </a:r>
            <a:endParaRPr lang="en-US" sz="7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50520F8-05BF-ECAA-BCE2-E9E797AFAF4D}"/>
              </a:ext>
            </a:extLst>
          </p:cNvPr>
          <p:cNvSpPr/>
          <p:nvPr/>
        </p:nvSpPr>
        <p:spPr>
          <a:xfrm>
            <a:off x="886968" y="1125041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Wins Over Time</a:t>
            </a:r>
            <a:endParaRPr lang="en-US" sz="9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3944528-A2F3-0A42-D12D-5F98D33A7958}"/>
              </a:ext>
            </a:extLst>
          </p:cNvPr>
          <p:cNvSpPr/>
          <p:nvPr/>
        </p:nvSpPr>
        <p:spPr>
          <a:xfrm>
            <a:off x="886968" y="1353641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: </a:t>
            </a:r>
            <a:r>
              <a:rPr lang="en-GB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GB" sz="800" dirty="0">
                <a:solidFill>
                  <a:srgbClr val="4A6080"/>
                </a:solidFill>
                <a:latin typeface="Calibri" pitchFamily="34" charset="0"/>
                <a:cs typeface="Calibri" pitchFamily="34" charset="-120"/>
              </a:rPr>
              <a:t>otal number of Oscar wins given out each year from 1928 to 2023</a:t>
            </a: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ABC8188-E00F-3A77-CAA6-CC4CEFEBF703}"/>
              </a:ext>
            </a:extLst>
          </p:cNvPr>
          <p:cNvSpPr/>
          <p:nvPr/>
        </p:nvSpPr>
        <p:spPr>
          <a:xfrm>
            <a:off x="4754880" y="108477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30CE178-9AAF-7BEC-B8D5-AA5251292B48}"/>
              </a:ext>
            </a:extLst>
          </p:cNvPr>
          <p:cNvSpPr/>
          <p:nvPr/>
        </p:nvSpPr>
        <p:spPr>
          <a:xfrm>
            <a:off x="4754880" y="111556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4</a:t>
            </a:r>
            <a:endParaRPr lang="en-US" sz="7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11E4413-5672-B7CD-0C7B-F58854D4557B}"/>
              </a:ext>
            </a:extLst>
          </p:cNvPr>
          <p:cNvSpPr/>
          <p:nvPr/>
        </p:nvSpPr>
        <p:spPr>
          <a:xfrm>
            <a:off x="5321808" y="111279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Films: Nomination Vs Win Rate</a:t>
            </a:r>
            <a:endParaRPr lang="en-US" sz="95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4743C45-3C52-0672-5C97-22D00B25BC1F}"/>
              </a:ext>
            </a:extLst>
          </p:cNvPr>
          <p:cNvSpPr/>
          <p:nvPr/>
        </p:nvSpPr>
        <p:spPr>
          <a:xfrm>
            <a:off x="5321808" y="1224045"/>
            <a:ext cx="3520440" cy="40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&amp; Stacked Column: </a:t>
            </a:r>
            <a:r>
              <a:rPr lang="en-GB" sz="800" dirty="0">
                <a:solidFill>
                  <a:srgbClr val="4A6080"/>
                </a:solidFill>
                <a:latin typeface="Calibri" pitchFamily="34" charset="0"/>
                <a:cs typeface="Calibri" pitchFamily="34" charset="-120"/>
              </a:rPr>
              <a:t>Titanic</a:t>
            </a:r>
            <a:r>
              <a:rPr lang="en-GB" dirty="0"/>
              <a:t> </a:t>
            </a:r>
            <a:r>
              <a:rPr lang="en-GB" sz="800" dirty="0">
                <a:solidFill>
                  <a:srgbClr val="4A6080"/>
                </a:solidFill>
                <a:latin typeface="Calibri" pitchFamily="34" charset="0"/>
                <a:cs typeface="Calibri" pitchFamily="34" charset="-120"/>
              </a:rPr>
              <a:t>(16 nominations, 75% win rate) is far more efficient than A Star Is Born (26 nominations, only 15.4% win rate</a:t>
            </a:r>
            <a:r>
              <a:rPr lang="en-US" sz="800" dirty="0">
                <a:solidFill>
                  <a:srgbClr val="4A6080"/>
                </a:solidFill>
                <a:latin typeface="Calibri" pitchFamily="34" charset="0"/>
                <a:cs typeface="Calibri" pitchFamily="34" charset="-120"/>
              </a:rPr>
              <a:t> </a:t>
            </a:r>
          </a:p>
        </p:txBody>
      </p:sp>
      <p:sp>
        <p:nvSpPr>
          <p:cNvPr id="3" name="Shape 30">
            <a:extLst>
              <a:ext uri="{FF2B5EF4-FFF2-40B4-BE49-F238E27FC236}">
                <a16:creationId xmlns:a16="http://schemas.microsoft.com/office/drawing/2014/main" id="{7873CE6B-734B-8B8A-EF87-BBA45F41906A}"/>
              </a:ext>
            </a:extLst>
          </p:cNvPr>
          <p:cNvSpPr/>
          <p:nvPr/>
        </p:nvSpPr>
        <p:spPr>
          <a:xfrm>
            <a:off x="4754880" y="1087353"/>
            <a:ext cx="475488" cy="65836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51AE3C9C-4717-D54E-7FFC-DB2B08140E45}"/>
              </a:ext>
            </a:extLst>
          </p:cNvPr>
          <p:cNvSpPr/>
          <p:nvPr/>
        </p:nvSpPr>
        <p:spPr>
          <a:xfrm>
            <a:off x="4754880" y="109270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4</a:t>
            </a:r>
            <a:endParaRPr lang="en-US" sz="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7C8854-2218-A131-482B-26EBB1765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1" y="1900532"/>
            <a:ext cx="4206240" cy="27838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A68D2D-5D89-24D6-C79A-2C7F7A878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900532"/>
            <a:ext cx="4251960" cy="278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01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828DA-D5C3-8E8E-8AC4-5FEC19E97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509C49-8513-633E-1C4D-C9284D47CBCB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F5E"/>
          </a:solidFill>
          <a:ln w="12700">
            <a:solidFill>
              <a:srgbClr val="1D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36FDB9-03D7-9C0B-654E-04F556D22BB3}"/>
              </a:ext>
            </a:extLst>
          </p:cNvPr>
          <p:cNvSpPr/>
          <p:nvPr/>
        </p:nvSpPr>
        <p:spPr>
          <a:xfrm>
            <a:off x="41148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Visualisation — Power BI Dashboard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0EF070-109F-E7CE-EBD7-A5835E029ED8}"/>
              </a:ext>
            </a:extLst>
          </p:cNvPr>
          <p:cNvSpPr/>
          <p:nvPr/>
        </p:nvSpPr>
        <p:spPr>
          <a:xfrm>
            <a:off x="411480" y="594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charts across 2 report pages — bars, lines, donut, KPI cards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4CF74F6-3B47-2181-E4EF-0C7508654F71}"/>
              </a:ext>
            </a:extLst>
          </p:cNvPr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A95819AD-7AB3-F25F-660D-8A4847772FBD}"/>
              </a:ext>
            </a:extLst>
          </p:cNvPr>
          <p:cNvSpPr/>
          <p:nvPr/>
        </p:nvSpPr>
        <p:spPr>
          <a:xfrm>
            <a:off x="157243" y="1031905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5DC50AF5-23A9-F833-DE38-E45735CA9C12}"/>
              </a:ext>
            </a:extLst>
          </p:cNvPr>
          <p:cNvSpPr/>
          <p:nvPr/>
        </p:nvSpPr>
        <p:spPr>
          <a:xfrm>
            <a:off x="724171" y="10515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By Award Category</a:t>
            </a:r>
            <a:endParaRPr lang="en-US" sz="95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BFFA4B60-ABF1-622D-3D83-5F1BFF853245}"/>
              </a:ext>
            </a:extLst>
          </p:cNvPr>
          <p:cNvSpPr/>
          <p:nvPr/>
        </p:nvSpPr>
        <p:spPr>
          <a:xfrm>
            <a:off x="724171" y="12801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0E8990B6-722D-AA82-CACF-F92D978E755B}"/>
              </a:ext>
            </a:extLst>
          </p:cNvPr>
          <p:cNvSpPr/>
          <p:nvPr/>
        </p:nvSpPr>
        <p:spPr>
          <a:xfrm>
            <a:off x="4606183" y="1055271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FE102FCC-8CA6-E226-ECCF-1FB43F252BB3}"/>
              </a:ext>
            </a:extLst>
          </p:cNvPr>
          <p:cNvSpPr/>
          <p:nvPr/>
        </p:nvSpPr>
        <p:spPr>
          <a:xfrm>
            <a:off x="5317707" y="1062381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by Production Company</a:t>
            </a:r>
            <a:endParaRPr lang="en-US" sz="95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A5C61EFF-0103-A472-D679-6017598EF6BC}"/>
              </a:ext>
            </a:extLst>
          </p:cNvPr>
          <p:cNvSpPr/>
          <p:nvPr/>
        </p:nvSpPr>
        <p:spPr>
          <a:xfrm>
            <a:off x="704194" y="1267976"/>
            <a:ext cx="3683110" cy="35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4A6080"/>
                </a:solidFill>
                <a:latin typeface="Calibri" pitchFamily="34" charset="0"/>
                <a:cs typeface="Calibri" pitchFamily="34" charset="-120"/>
              </a:rPr>
              <a:t>Cluster Bar chart : </a:t>
            </a:r>
            <a:r>
              <a:rPr lang="en-GB" sz="800" dirty="0">
                <a:solidFill>
                  <a:srgbClr val="4A6080"/>
                </a:solidFill>
                <a:latin typeface="Calibri" pitchFamily="34" charset="0"/>
                <a:cs typeface="Calibri" pitchFamily="34" charset="-120"/>
              </a:rPr>
              <a:t>Technical categories like Directing, Film Editing and Acting dominate showing the Academy values craft over commercial success</a:t>
            </a:r>
            <a:endParaRPr lang="en-US" sz="800" dirty="0">
              <a:solidFill>
                <a:srgbClr val="4A6080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" name="Shape 30">
            <a:extLst>
              <a:ext uri="{FF2B5EF4-FFF2-40B4-BE49-F238E27FC236}">
                <a16:creationId xmlns:a16="http://schemas.microsoft.com/office/drawing/2014/main" id="{6934A463-172C-8DCC-81E5-695C465FAF9A}"/>
              </a:ext>
            </a:extLst>
          </p:cNvPr>
          <p:cNvSpPr/>
          <p:nvPr/>
        </p:nvSpPr>
        <p:spPr>
          <a:xfrm>
            <a:off x="157243" y="1051560"/>
            <a:ext cx="475488" cy="65836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0">
            <a:extLst>
              <a:ext uri="{FF2B5EF4-FFF2-40B4-BE49-F238E27FC236}">
                <a16:creationId xmlns:a16="http://schemas.microsoft.com/office/drawing/2014/main" id="{51072EB1-A469-9CBD-13F0-6EDBEAD9E9A4}"/>
              </a:ext>
            </a:extLst>
          </p:cNvPr>
          <p:cNvSpPr/>
          <p:nvPr/>
        </p:nvSpPr>
        <p:spPr>
          <a:xfrm>
            <a:off x="4623340" y="1057973"/>
            <a:ext cx="475488" cy="65836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B76491-B4B9-CF2D-5271-C56D63CF3075}"/>
              </a:ext>
            </a:extLst>
          </p:cNvPr>
          <p:cNvSpPr txBox="1"/>
          <p:nvPr/>
        </p:nvSpPr>
        <p:spPr>
          <a:xfrm>
            <a:off x="4636008" y="1194567"/>
            <a:ext cx="5598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Chart 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D7AEDB-7E2F-A463-A62A-93DFEFB836E6}"/>
              </a:ext>
            </a:extLst>
          </p:cNvPr>
          <p:cNvSpPr txBox="1"/>
          <p:nvPr/>
        </p:nvSpPr>
        <p:spPr>
          <a:xfrm>
            <a:off x="157243" y="1244394"/>
            <a:ext cx="5598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Chart 5</a:t>
            </a:r>
          </a:p>
        </p:txBody>
      </p:sp>
      <p:sp>
        <p:nvSpPr>
          <p:cNvPr id="12" name="Text 53">
            <a:extLst>
              <a:ext uri="{FF2B5EF4-FFF2-40B4-BE49-F238E27FC236}">
                <a16:creationId xmlns:a16="http://schemas.microsoft.com/office/drawing/2014/main" id="{F5C32590-6D93-C498-0E29-3C5B6DDF833B}"/>
              </a:ext>
            </a:extLst>
          </p:cNvPr>
          <p:cNvSpPr/>
          <p:nvPr/>
        </p:nvSpPr>
        <p:spPr>
          <a:xfrm>
            <a:off x="5195843" y="1298282"/>
            <a:ext cx="3516339" cy="35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4A6080"/>
                </a:solidFill>
                <a:latin typeface="Calibri" pitchFamily="34" charset="0"/>
                <a:cs typeface="Calibri" pitchFamily="34" charset="-120"/>
              </a:rPr>
              <a:t>Cluster Bar chart : </a:t>
            </a:r>
            <a:r>
              <a:rPr lang="en-GB" sz="800" dirty="0">
                <a:solidFill>
                  <a:srgbClr val="4A6080"/>
                </a:solidFill>
                <a:latin typeface="Calibri" pitchFamily="34" charset="0"/>
                <a:cs typeface="Calibri" pitchFamily="34" charset="-120"/>
              </a:rPr>
              <a:t>Walt Disney leads with 37.3% win rate — meaning more than 1 in 3 of their nominations result in a win. MGM and Warner Bros follow</a:t>
            </a:r>
            <a:endParaRPr lang="en-US" sz="800" dirty="0">
              <a:solidFill>
                <a:srgbClr val="4A6080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C9AA18-9C90-EE76-B89C-B69BCD95A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43" y="1863703"/>
            <a:ext cx="4206240" cy="27937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B6F1C5-C44B-80F0-CED5-689FD73FB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183" y="1850232"/>
            <a:ext cx="4206240" cy="279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054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F5E"/>
          </a:solidFill>
          <a:ln w="12700">
            <a:solidFill>
              <a:srgbClr val="1D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Conclusion &amp; Critical Reflection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· DW advantages · Limitations · Future 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4864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3977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54864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60020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— best single-film win rate (75%) — 12/16</a:t>
            </a:r>
            <a:endParaRPr lang="en-US" sz="90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1940s nomination peak — WWII documentary surge</a:t>
            </a:r>
            <a:endParaRPr lang="en-US" sz="90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SciTech/Special awards distort competitive win-rate analysis</a:t>
            </a:r>
            <a:endParaRPr lang="en-US" sz="90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era: higher win rate (30.1%) but less nominee diversity</a:t>
            </a:r>
            <a:endParaRPr lang="en-US" sz="90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 Disney — most decorated individual (25 wins, 62 noms)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207008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1280160"/>
            <a:ext cx="54864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81728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vs OLTP ADVANTAGES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6002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Perf.: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pre-aggregation vs full JOIN of 11,874 rows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847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Analytical: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attrs (decade/era) computed once at ETL load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0939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Dims: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dim_ceremony shared across both fact tables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34086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Separation: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integrity ≠ analytical model — no coupling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58775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schemas are the native model for Power BI engine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3977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090672"/>
            <a:ext cx="54864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" y="30723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SHORTCOMINGS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401568"/>
            <a:ext cx="3657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incremental load — full ETL reload for each new ceremony</a:t>
            </a:r>
            <a:endParaRPr lang="en-US" sz="850" dirty="0"/>
          </a:p>
          <a:p>
            <a:pPr marL="0" indent="0">
              <a:buNone/>
            </a:pP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Slowly Changing Dimensions — film/nominee history lost</a:t>
            </a:r>
            <a:endParaRPr lang="en-US" sz="850" dirty="0"/>
          </a:p>
          <a:p>
            <a:pPr marL="0" indent="0">
              <a:buNone/>
            </a:pP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source — no box office, critic scores, streaming data</a:t>
            </a:r>
            <a:endParaRPr lang="en-US" sz="850" dirty="0"/>
          </a:p>
          <a:p>
            <a:pPr marL="0" indent="0">
              <a:buNone/>
            </a:pP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encoding ambiguity — null/0/1/1.0 required CASE logic</a:t>
            </a:r>
            <a:endParaRPr lang="en-US" sz="850" dirty="0"/>
          </a:p>
          <a:p>
            <a:pPr marL="0" indent="0">
              <a:buNone/>
            </a:pP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lacks PIVOT, parallel execution, concurrent writes</a:t>
            </a:r>
            <a:endParaRPr lang="en-US" sz="850" dirty="0"/>
          </a:p>
          <a:p>
            <a:pPr marL="0" indent="0">
              <a:buNone/>
            </a:pP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built on flat staging table, not Star Schema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301752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3090672"/>
            <a:ext cx="54864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81728" y="30723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401568"/>
            <a:ext cx="3886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 directly to SQLite Star Schema via ODBC</a:t>
            </a:r>
            <a:endParaRPr lang="en-US" sz="90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SCD Type 2 for dim_film &amp; dim_nominee</a:t>
            </a:r>
            <a:endParaRPr lang="en-US" sz="90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dim_film with IMDb data: gross, genre, RT score</a:t>
            </a:r>
            <a:endParaRPr lang="en-US" sz="90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incremental ETL — append new ceremonies in minutes</a:t>
            </a:r>
            <a:endParaRPr lang="en-US" sz="900" dirty="0"/>
          </a:p>
          <a:p>
            <a:pPr marL="0" indent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D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predictive visuals for win probability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3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i="1" dirty="0"/>
          </a:p>
        </p:txBody>
      </p:sp>
      <p:sp>
        <p:nvSpPr>
          <p:cNvPr id="7" name="Text 5"/>
          <p:cNvSpPr/>
          <p:nvPr/>
        </p:nvSpPr>
        <p:spPr>
          <a:xfrm>
            <a:off x="991312" y="2446021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G06 · Course: Data Warehouse · April 2026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Pereira Dias</a:t>
            </a:r>
            <a:r>
              <a:rPr lang="en-US" sz="1000" b="1" dirty="0">
                <a:solidFill>
                  <a:srgbClr val="8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·  Manju Srinivasan  ·  Miguel Filipe Santos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1952</Words>
  <Application>Microsoft Macintosh PowerPoint</Application>
  <PresentationFormat>On-screen Show (16:9)</PresentationFormat>
  <Paragraphs>409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Manju 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Oscar Data Warehouse Project</dc:title>
  <dc:subject>Oscar Project</dc:subject>
  <dc:creator>Manju</dc:creator>
  <cp:keywords/>
  <dc:description/>
  <cp:lastModifiedBy>manjusrini2709@outlook.com</cp:lastModifiedBy>
  <cp:revision>9</cp:revision>
  <dcterms:created xsi:type="dcterms:W3CDTF">2026-04-05T18:07:49Z</dcterms:created>
  <dcterms:modified xsi:type="dcterms:W3CDTF">2026-04-06T13:33:52Z</dcterms:modified>
  <cp:category/>
</cp:coreProperties>
</file>